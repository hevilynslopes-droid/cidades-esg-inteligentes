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887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3B35"/>
                </a:solidFill>
              </a:defRPr>
            </a:pPr>
            <a:r>
              <a:t>CIDADES ESG</a:t>
            </a:r>
            <a:br/>
            <a:r>
              <a:t>INTELIGENTES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3332F"/>
                </a:solidFill>
              </a:defRPr>
            </a:pPr>
            <a:r>
              <a:t>DevOps para a Carbono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029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6645F"/>
                </a:solidFill>
              </a:defRPr>
            </a:pPr>
            <a:r>
              <a:t>Equipe: preencher nomes • Data: preencher na submissão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B35"/>
                </a:solidFill>
                <a:latin typeface="Aptos Display"/>
              </a:defRPr>
            </a:pPr>
            <a:r>
              <a:t>Objetivo e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6645F"/>
                </a:solidFill>
              </a:defRPr>
            </a:pPr>
            <a:r>
              <a:t>Evoluir a aplicação existente sem substituir sua implementação ESG.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332F"/>
                </a:solidFill>
                <a:latin typeface="Aptos"/>
              </a:defRPr>
            </a:pPr>
            <a:r>
              <a:t>API REST para gestão de emissões, compensações e planos de redução de carbono.</a:t>
            </a:r>
          </a:p>
          <a:p>
            <a:pPr>
              <a:spcAft>
                <a:spcPts val="1300"/>
              </a:spcAft>
              <a:defRPr sz="2100">
                <a:solidFill>
                  <a:srgbClr val="23332F"/>
                </a:solidFill>
                <a:latin typeface="Aptos"/>
              </a:defRPr>
            </a:pPr>
            <a:r>
              <a:t>Preparar build/testes automatizados, containerização e implantação por ambientes.</a:t>
            </a:r>
          </a:p>
          <a:p>
            <a:pPr>
              <a:spcAft>
                <a:spcPts val="1300"/>
              </a:spcAft>
              <a:defRPr sz="2100">
                <a:solidFill>
                  <a:srgbClr val="23332F"/>
                </a:solidFill>
                <a:latin typeface="Aptos"/>
              </a:defRPr>
            </a:pPr>
            <a:r>
              <a:t>Tecnologias: Java 21, Spring Boot, Maven, Oracle, Flyway, JWT, Docker e GitHub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6645F"/>
                </a:solidFill>
              </a:defRPr>
            </a:pPr>
            <a:r>
              <a:t>Cidades ESG Inteligentes • DevOps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B35"/>
                </a:solidFill>
                <a:latin typeface="Aptos Display"/>
              </a:defRPr>
            </a:pPr>
            <a:r>
              <a:t>Pipeline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6645F"/>
                </a:solidFill>
              </a:defRPr>
            </a:pPr>
            <a:r>
              <a:t>O build/teste é uma condição obrigatória antes da publicação da imagem.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03120"/>
            <a:ext cx="1645920" cy="1188720"/>
          </a:xfrm>
          <a:prstGeom prst="roundRect">
            <a:avLst/>
          </a:prstGeom>
          <a:solidFill>
            <a:srgbClr val="EAF1EE"/>
          </a:solidFill>
          <a:ln>
            <a:solidFill>
              <a:srgbClr val="163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63B35"/>
                </a:solidFill>
              </a:defRPr>
            </a:pPr>
            <a:r>
              <a:t>1</a:t>
            </a:r>
          </a:p>
          <a:p>
            <a:pPr algn="ctr">
              <a:defRPr sz="1300">
                <a:solidFill>
                  <a:srgbClr val="23332F"/>
                </a:solidFill>
              </a:defRPr>
            </a:pPr>
            <a:r>
              <a:t>Checkout</a:t>
            </a:r>
          </a:p>
        </p:txBody>
      </p:sp>
      <p:sp>
        <p:nvSpPr>
          <p:cNvPr id="5" name="Chevron 4"/>
          <p:cNvSpPr/>
          <p:nvPr/>
        </p:nvSpPr>
        <p:spPr>
          <a:xfrm>
            <a:off x="2167128" y="2487168"/>
            <a:ext cx="228600" cy="365760"/>
          </a:xfrm>
          <a:prstGeom prst="chevron">
            <a:avLst/>
          </a:prstGeom>
          <a:solidFill>
            <a:srgbClr val="163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41448" y="2103120"/>
            <a:ext cx="1645920" cy="1188720"/>
          </a:xfrm>
          <a:prstGeom prst="roundRect">
            <a:avLst/>
          </a:prstGeom>
          <a:solidFill>
            <a:srgbClr val="EAF1EE"/>
          </a:solidFill>
          <a:ln>
            <a:solidFill>
              <a:srgbClr val="163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63B35"/>
                </a:solidFill>
              </a:defRPr>
            </a:pPr>
            <a:r>
              <a:t>2</a:t>
            </a:r>
          </a:p>
          <a:p>
            <a:pPr algn="ctr">
              <a:defRPr sz="1300">
                <a:solidFill>
                  <a:srgbClr val="23332F"/>
                </a:solidFill>
              </a:defRPr>
            </a:pPr>
            <a:r>
              <a:t>Java 21 + Maven</a:t>
            </a:r>
          </a:p>
        </p:txBody>
      </p:sp>
      <p:sp>
        <p:nvSpPr>
          <p:cNvPr id="7" name="Chevron 6"/>
          <p:cNvSpPr/>
          <p:nvPr/>
        </p:nvSpPr>
        <p:spPr>
          <a:xfrm>
            <a:off x="4105656" y="2487168"/>
            <a:ext cx="228600" cy="365760"/>
          </a:xfrm>
          <a:prstGeom prst="chevron">
            <a:avLst/>
          </a:prstGeom>
          <a:solidFill>
            <a:srgbClr val="163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79976" y="2103120"/>
            <a:ext cx="1645920" cy="1188720"/>
          </a:xfrm>
          <a:prstGeom prst="roundRect">
            <a:avLst/>
          </a:prstGeom>
          <a:solidFill>
            <a:srgbClr val="EAF1EE"/>
          </a:solidFill>
          <a:ln>
            <a:solidFill>
              <a:srgbClr val="163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63B35"/>
                </a:solidFill>
              </a:defRPr>
            </a:pPr>
            <a:r>
              <a:t>3</a:t>
            </a:r>
          </a:p>
          <a:p>
            <a:pPr algn="ctr">
              <a:defRPr sz="1300">
                <a:solidFill>
                  <a:srgbClr val="23332F"/>
                </a:solidFill>
              </a:defRPr>
            </a:pPr>
            <a:r>
              <a:t>mvn clean verify</a:t>
            </a:r>
          </a:p>
        </p:txBody>
      </p:sp>
      <p:sp>
        <p:nvSpPr>
          <p:cNvPr id="9" name="Chevron 8"/>
          <p:cNvSpPr/>
          <p:nvPr/>
        </p:nvSpPr>
        <p:spPr>
          <a:xfrm>
            <a:off x="6044184" y="2487168"/>
            <a:ext cx="228600" cy="365760"/>
          </a:xfrm>
          <a:prstGeom prst="chevron">
            <a:avLst/>
          </a:prstGeom>
          <a:solidFill>
            <a:srgbClr val="163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18504" y="2103120"/>
            <a:ext cx="1645920" cy="1188720"/>
          </a:xfrm>
          <a:prstGeom prst="roundRect">
            <a:avLst/>
          </a:prstGeom>
          <a:solidFill>
            <a:srgbClr val="EAF1EE"/>
          </a:solidFill>
          <a:ln>
            <a:solidFill>
              <a:srgbClr val="163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63B35"/>
                </a:solidFill>
              </a:defRPr>
            </a:pPr>
            <a:r>
              <a:t>4</a:t>
            </a:r>
          </a:p>
          <a:p>
            <a:pPr algn="ctr">
              <a:defRPr sz="1300">
                <a:solidFill>
                  <a:srgbClr val="23332F"/>
                </a:solidFill>
              </a:defRPr>
            </a:pPr>
            <a:r>
              <a:t>Imagem Docker</a:t>
            </a:r>
          </a:p>
        </p:txBody>
      </p:sp>
      <p:sp>
        <p:nvSpPr>
          <p:cNvPr id="11" name="Chevron 10"/>
          <p:cNvSpPr/>
          <p:nvPr/>
        </p:nvSpPr>
        <p:spPr>
          <a:xfrm>
            <a:off x="7982712" y="2487168"/>
            <a:ext cx="228600" cy="365760"/>
          </a:xfrm>
          <a:prstGeom prst="chevron">
            <a:avLst/>
          </a:prstGeom>
          <a:solidFill>
            <a:srgbClr val="163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57032" y="2103120"/>
            <a:ext cx="1645920" cy="1188720"/>
          </a:xfrm>
          <a:prstGeom prst="roundRect">
            <a:avLst/>
          </a:prstGeom>
          <a:solidFill>
            <a:srgbClr val="EAF1EE"/>
          </a:solidFill>
          <a:ln>
            <a:solidFill>
              <a:srgbClr val="163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63B35"/>
                </a:solidFill>
              </a:defRPr>
            </a:pPr>
            <a:r>
              <a:t>5</a:t>
            </a:r>
          </a:p>
          <a:p>
            <a:pPr algn="ctr">
              <a:defRPr sz="1300">
                <a:solidFill>
                  <a:srgbClr val="23332F"/>
                </a:solidFill>
              </a:defRPr>
            </a:pPr>
            <a:r>
              <a:t>GHCR</a:t>
            </a:r>
          </a:p>
        </p:txBody>
      </p:sp>
      <p:sp>
        <p:nvSpPr>
          <p:cNvPr id="13" name="Chevron 12"/>
          <p:cNvSpPr/>
          <p:nvPr/>
        </p:nvSpPr>
        <p:spPr>
          <a:xfrm>
            <a:off x="9921240" y="2487168"/>
            <a:ext cx="228600" cy="365760"/>
          </a:xfrm>
          <a:prstGeom prst="chevron">
            <a:avLst/>
          </a:prstGeom>
          <a:solidFill>
            <a:srgbClr val="163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195560" y="2103120"/>
            <a:ext cx="1645920" cy="1188720"/>
          </a:xfrm>
          <a:prstGeom prst="roundRect">
            <a:avLst/>
          </a:prstGeom>
          <a:solidFill>
            <a:srgbClr val="EAF1EE"/>
          </a:solidFill>
          <a:ln>
            <a:solidFill>
              <a:srgbClr val="163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63B35"/>
                </a:solidFill>
              </a:defRPr>
            </a:pPr>
            <a:r>
              <a:t>6</a:t>
            </a:r>
          </a:p>
          <a:p>
            <a:pPr algn="ctr">
              <a:defRPr sz="1300">
                <a:solidFill>
                  <a:srgbClr val="23332F"/>
                </a:solidFill>
              </a:defRPr>
            </a:pPr>
            <a:r>
              <a:t>Staging / Produção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10789920" cy="49377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332F"/>
                </a:solidFill>
                <a:latin typeface="Aptos"/>
              </a:defRPr>
            </a:pPr>
            <a:r>
              <a:t>Pull requests validam o código, sem publicar imagem.</a:t>
            </a:r>
          </a:p>
          <a:p>
            <a:pPr>
              <a:spcAft>
                <a:spcPts val="1300"/>
              </a:spcAft>
              <a:defRPr sz="1800">
                <a:solidFill>
                  <a:srgbClr val="23332F"/>
                </a:solidFill>
                <a:latin typeface="Aptos"/>
              </a:defRPr>
            </a:pPr>
            <a:r>
              <a:t>Push em main pode iniciar staging; produção é manual e deve exigir aprovação.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6645F"/>
                </a:solidFill>
              </a:defRPr>
            </a:pPr>
            <a:r>
              <a:t>Cidades ESG Inteligentes • DevOps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B35"/>
                </a:solidFill>
                <a:latin typeface="Aptos Display"/>
              </a:defRPr>
            </a:pPr>
            <a:r>
              <a:t>Docker e ambientes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6645F"/>
                </a:solidFill>
              </a:defRPr>
            </a:pPr>
            <a:r>
              <a:t>Containerização com configuração externa e dados persistentes.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332F"/>
                </a:solidFill>
                <a:latin typeface="Aptos"/>
              </a:defRPr>
            </a:pPr>
            <a:r>
              <a:t>Dockerfile multi-stage: build Maven + runtime JRE, processo não-root.</a:t>
            </a:r>
          </a:p>
          <a:p>
            <a:pPr>
              <a:spcAft>
                <a:spcPts val="1300"/>
              </a:spcAft>
              <a:defRPr sz="1900">
                <a:solidFill>
                  <a:srgbClr val="23332F"/>
                </a:solidFill>
                <a:latin typeface="Aptos"/>
              </a:defRPr>
            </a:pPr>
            <a:r>
              <a:t>Docker Compose local: API + Oracle, rede bridge e volume oracle_data.</a:t>
            </a:r>
          </a:p>
          <a:p>
            <a:pPr>
              <a:spcAft>
                <a:spcPts val="1300"/>
              </a:spcAft>
              <a:defRPr sz="1900">
                <a:solidFill>
                  <a:srgbClr val="23332F"/>
                </a:solidFill>
                <a:latin typeface="Aptos"/>
              </a:defRPr>
            </a:pPr>
            <a:r>
              <a:t>Compose de deploy consome imagem versionada do GHCR; o banco não deve ser exposto publicamente.</a:t>
            </a:r>
          </a:p>
          <a:p>
            <a:pPr>
              <a:spcAft>
                <a:spcPts val="1300"/>
              </a:spcAft>
              <a:defRPr sz="1900">
                <a:solidFill>
                  <a:srgbClr val="23332F"/>
                </a:solidFill>
                <a:latin typeface="Aptos"/>
              </a:defRPr>
            </a:pPr>
            <a:r>
              <a:t>Segredos via variáveis de ambiente; .env real não entra no ZIP nem no Git.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6645F"/>
                </a:solidFill>
              </a:defRPr>
            </a:pPr>
            <a:r>
              <a:t>Cidades ESG Inteligentes • DevOps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B35"/>
                </a:solidFill>
                <a:latin typeface="Aptos Display"/>
              </a:defRPr>
            </a:pPr>
            <a:r>
              <a:t>Segurança e qualidade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332F"/>
                </a:solidFill>
                <a:latin typeface="Aptos"/>
              </a:defRPr>
            </a:pPr>
            <a:r>
              <a:t>Credenciais fixas removidas das configurações principais; usar valores fortes e rotacionar os que já foram compartilhados.</a:t>
            </a:r>
          </a:p>
          <a:p>
            <a:pPr>
              <a:spcAft>
                <a:spcPts val="1300"/>
              </a:spcAft>
              <a:defRPr sz="1900">
                <a:solidFill>
                  <a:srgbClr val="23332F"/>
                </a:solidFill>
                <a:latin typeface="Aptos"/>
              </a:defRPr>
            </a:pPr>
            <a:r>
              <a:t>Testes Maven executados como gate no pipeline; relatório Surefire guardado como artefato.</a:t>
            </a:r>
          </a:p>
          <a:p>
            <a:pPr>
              <a:spcAft>
                <a:spcPts val="1300"/>
              </a:spcAft>
              <a:defRPr sz="1900">
                <a:solidFill>
                  <a:srgbClr val="23332F"/>
                </a:solidFill>
                <a:latin typeface="Aptos"/>
              </a:defRPr>
            </a:pPr>
            <a:r>
              <a:t>Perfil test usa H2 para o teste de contexto; testes Oracle de integração continuam recomendados.</a:t>
            </a:r>
          </a:p>
          <a:p>
            <a:pPr>
              <a:spcAft>
                <a:spcPts val="1300"/>
              </a:spcAft>
              <a:defRPr sz="1900">
                <a:solidFill>
                  <a:srgbClr val="23332F"/>
                </a:solidFill>
                <a:latin typeface="Aptos"/>
              </a:defRPr>
            </a:pPr>
            <a:r>
              <a:t>Configurar secrets SSH por ambiente e restringir acesso ao host e ao banco.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6645F"/>
                </a:solidFill>
              </a:defRPr>
            </a:pPr>
            <a:r>
              <a:t>Cidades ESG Inteligentes • DevOps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B35"/>
                </a:solidFill>
                <a:latin typeface="Aptos Display"/>
              </a:defRPr>
            </a:pPr>
            <a:r>
              <a:t>Status da entrega e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332F"/>
                </a:solidFill>
                <a:latin typeface="Aptos"/>
              </a:defRPr>
            </a:pPr>
            <a:r>
              <a:t>Preparado: código-fonte, Dockerfile, Compose, workflow CI/CD, README, .env.example e coleção Insomnia.</a:t>
            </a:r>
          </a:p>
          <a:p>
            <a:pPr>
              <a:spcAft>
                <a:spcPts val="1300"/>
              </a:spcAft>
              <a:defRPr sz="1800">
                <a:solidFill>
                  <a:srgbClr val="23332F"/>
                </a:solidFill>
                <a:latin typeface="Aptos"/>
              </a:defRPr>
            </a:pPr>
            <a:r>
              <a:t>Validação local: o Maven Wrapper não conseguiu baixar Maven Central neste ambiente; testes ainda precisam ser executados.</a:t>
            </a:r>
          </a:p>
          <a:p>
            <a:pPr>
              <a:spcAft>
                <a:spcPts val="1300"/>
              </a:spcAft>
              <a:defRPr sz="1800">
                <a:solidFill>
                  <a:srgbClr val="23332F"/>
                </a:solidFill>
                <a:latin typeface="Aptos"/>
              </a:defRPr>
            </a:pPr>
            <a:r>
              <a:t>Pendente: publicar repositório, configurar secrets/servidores, executar staging e produção e capturar evidências reais.</a:t>
            </a:r>
          </a:p>
          <a:p>
            <a:pPr>
              <a:spcAft>
                <a:spcPts val="1300"/>
              </a:spcAft>
              <a:defRPr sz="1800">
                <a:solidFill>
                  <a:srgbClr val="23332F"/>
                </a:solidFill>
                <a:latin typeface="Aptos"/>
              </a:defRPr>
            </a:pPr>
            <a:r>
              <a:t>Não foram inventados logs, screenshots nem deploys concluídos.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6645F"/>
                </a:solidFill>
              </a:defRPr>
            </a:pPr>
            <a:r>
              <a:t>Cidades ESG Inteligentes • DevOps                                    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